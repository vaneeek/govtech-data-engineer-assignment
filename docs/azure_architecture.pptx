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3F19E-FEF6-921A-1B81-CC327C7C99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E5AB54-E922-EA90-1CE8-138FBB0144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9C8473-0E06-4221-EA84-E9D0C1EA6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9ABC9-CB78-4A08-836C-32ECC9BBE4F8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797AD8-0630-BF2B-2C78-8EDFC5019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59DE20-F74D-B0E1-F6FE-384C278E6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5684C-E850-489E-82B9-EFFED25D1E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665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F6F8B-9360-70CA-DD53-E0732BDD1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0F99E9-C3CE-FA1A-216E-20AC5E508D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430598-ACC4-7C22-F95E-86C7F3371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9ABC9-CB78-4A08-836C-32ECC9BBE4F8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AC0533-53A2-7914-50E1-19BE94E91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EA605D-D742-6F60-C7A4-462AB551B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5684C-E850-489E-82B9-EFFED25D1E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8862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CB536-1843-B2AC-CDCB-5BFBF68D9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541720-D0C7-2DC2-8951-9E40A0881F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383FF6-FBA3-178D-8ACB-73C526868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9ABC9-CB78-4A08-836C-32ECC9BBE4F8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AE188D-03C1-72B2-0A56-EF530E4AC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9AB3EE-FF54-9469-18B1-776275409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5684C-E850-489E-82B9-EFFED25D1E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9033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18DE5-9FF7-4582-2AB3-F1A3E1885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BAFA88-F05B-5B3F-86B5-155D890149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86AA7B-9296-EE8A-180A-2030119C89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36598B-C9D8-2D8D-60EB-33A30EE59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9ABC9-CB78-4A08-836C-32ECC9BBE4F8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966547-3C61-18E8-B642-E04BB7ED0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075100-3075-CBB8-1E22-0B190FAA7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5684C-E850-489E-82B9-EFFED25D1E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3972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BDB1E-0937-12E0-4E1E-41B5CCC9D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45D8D2-75D7-7470-1C91-2934A6A492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937C7B-FFAE-974A-861D-ADCB1B5CB7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56007D-3197-ACD9-BBFB-E6E44DAEA0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354545-3DCA-0889-30E3-21E3389242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C2B9DC-1343-4375-22EF-B158FF62D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9ABC9-CB78-4A08-836C-32ECC9BBE4F8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ABA1AE-51C8-69D9-9D4B-AB33935209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1FF6FC-43D4-71A9-DA85-CCABF7D9E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5684C-E850-489E-82B9-EFFED25D1E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8495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B825A-1584-C342-5B4D-E25578677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425FA3-A2C6-CB8B-2DE8-FAC770EF7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9ABC9-CB78-4A08-836C-32ECC9BBE4F8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A961FB-C185-1A9C-E892-749C9A40C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799EE3-01C7-3679-87AB-4E996878D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5684C-E850-489E-82B9-EFFED25D1E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020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F99088-DC3D-0A65-4775-CF1DBC01B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9ABC9-CB78-4A08-836C-32ECC9BBE4F8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F5CF21-691B-6431-018F-D0A29F6A2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9B9D84-0588-6C44-683D-42529AD55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5684C-E850-489E-82B9-EFFED25D1E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0466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D5091-D903-3DFD-E6EC-33FCD1E14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78A0E2-5276-8DAE-D071-8D9FCEAD8E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8DA4EB-9BD2-BA2A-5993-02BADCB29A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1B7EAC-DB2A-94F1-9DCB-4681464F4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9ABC9-CB78-4A08-836C-32ECC9BBE4F8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E1DB45-F41B-E24E-542B-CC43312D9F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1E72E2-82EA-9A41-2169-F6B79D6B4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5684C-E850-489E-82B9-EFFED25D1E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143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7EA9A-1A43-D1A3-BB1E-536734868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5E0D151-1D4E-4B85-4E07-3D32DBF269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1CA371-DF33-7337-9E30-1C23DCC4BB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9D4EAC-2959-CF52-31A0-0D1446AD1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9ABC9-CB78-4A08-836C-32ECC9BBE4F8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67C0D7-A7E4-2A3C-F9CA-35A36BED5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E842BB-AF94-22FA-264E-89B8C99C3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5684C-E850-489E-82B9-EFFED25D1E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4059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77554-2AA9-B6FE-80D8-E2DDBCA03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A1403F-0519-744C-BB11-B484795B46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B1D137-2378-074B-6F44-5CF2456DC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9ABC9-CB78-4A08-836C-32ECC9BBE4F8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2991F7-AF7D-083C-1800-F9605B135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FE137B-0671-1D13-C8C8-C81458E01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5684C-E850-489E-82B9-EFFED25D1E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310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5845BBD-60A1-BC90-02F8-DF078F1339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8CF7BF-9803-B8FB-F9B8-9798DB581C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783A49-7AED-4295-4BFE-4D04927C9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9ABC9-CB78-4A08-836C-32ECC9BBE4F8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128015-040B-B5AC-CE97-BBCBD7D02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6DF464-D1CF-3D58-3680-2B34BCE4B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5684C-E850-489E-82B9-EFFED25D1E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257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78D985-32E0-0019-A053-B2176A506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B73D74-BB97-A952-B727-6D34B86081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E40751-608C-28A3-61CF-189F7E5ACB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A9ABC9-CB78-4A08-836C-32ECC9BBE4F8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2BEC3-FD94-5325-F43C-68856B4582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1E74C4-A35E-ECCB-06DF-47510F962C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B5684C-E850-489E-82B9-EFFED25D1E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7902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699B172-97A5-E95C-BEBD-4F1427C05417}"/>
              </a:ext>
            </a:extLst>
          </p:cNvPr>
          <p:cNvSpPr/>
          <p:nvPr/>
        </p:nvSpPr>
        <p:spPr>
          <a:xfrm>
            <a:off x="413657" y="718458"/>
            <a:ext cx="1393372" cy="542108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41B151-84FA-67D4-F0A0-7986E58C7707}"/>
              </a:ext>
            </a:extLst>
          </p:cNvPr>
          <p:cNvSpPr txBox="1"/>
          <p:nvPr/>
        </p:nvSpPr>
        <p:spPr>
          <a:xfrm>
            <a:off x="413657" y="718456"/>
            <a:ext cx="13933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Source Systems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1027E87-8BE9-091E-8A2C-14E71D38A92C}"/>
              </a:ext>
            </a:extLst>
          </p:cNvPr>
          <p:cNvSpPr/>
          <p:nvPr/>
        </p:nvSpPr>
        <p:spPr>
          <a:xfrm>
            <a:off x="533400" y="1730829"/>
            <a:ext cx="1153886" cy="58782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Tax_source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D796E46-6A38-0D72-4C52-B638751A2690}"/>
              </a:ext>
            </a:extLst>
          </p:cNvPr>
          <p:cNvSpPr/>
          <p:nvPr/>
        </p:nvSpPr>
        <p:spPr>
          <a:xfrm>
            <a:off x="2275113" y="76200"/>
            <a:ext cx="8505505" cy="6498431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911B5EC-8119-1238-0B4F-742DDD339E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3086" y="97972"/>
            <a:ext cx="373520" cy="373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45ED45D-A871-9C17-41D2-E4C91BB81350}"/>
              </a:ext>
            </a:extLst>
          </p:cNvPr>
          <p:cNvSpPr/>
          <p:nvPr/>
        </p:nvSpPr>
        <p:spPr>
          <a:xfrm>
            <a:off x="2449286" y="580350"/>
            <a:ext cx="1393372" cy="480444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A1147C6-4907-09F1-708A-A56CDF2067D7}"/>
              </a:ext>
            </a:extLst>
          </p:cNvPr>
          <p:cNvSpPr txBox="1"/>
          <p:nvPr/>
        </p:nvSpPr>
        <p:spPr>
          <a:xfrm>
            <a:off x="2449286" y="580349"/>
            <a:ext cx="13933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Ingestion Layer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BFC975A-8EF6-F6FA-DC02-B05E3E1D9801}"/>
              </a:ext>
            </a:extLst>
          </p:cNvPr>
          <p:cNvSpPr/>
          <p:nvPr/>
        </p:nvSpPr>
        <p:spPr>
          <a:xfrm>
            <a:off x="2569029" y="911776"/>
            <a:ext cx="1153886" cy="58782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SFTP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Server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9155895-C1DF-FC54-9476-1BB5AD42A289}"/>
              </a:ext>
            </a:extLst>
          </p:cNvPr>
          <p:cNvCxnSpPr>
            <a:cxnSpLocks/>
          </p:cNvCxnSpPr>
          <p:nvPr/>
        </p:nvCxnSpPr>
        <p:spPr>
          <a:xfrm>
            <a:off x="3102428" y="1499604"/>
            <a:ext cx="0" cy="381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8A99802-C23F-C487-A2A9-E5B864878E66}"/>
              </a:ext>
            </a:extLst>
          </p:cNvPr>
          <p:cNvSpPr/>
          <p:nvPr/>
        </p:nvSpPr>
        <p:spPr>
          <a:xfrm>
            <a:off x="2601687" y="1871620"/>
            <a:ext cx="1153886" cy="58782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Fabric Data Factory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66459EC-E14A-7C7F-19FB-F0CA77DEADB8}"/>
              </a:ext>
            </a:extLst>
          </p:cNvPr>
          <p:cNvCxnSpPr>
            <a:cxnSpLocks/>
          </p:cNvCxnSpPr>
          <p:nvPr/>
        </p:nvCxnSpPr>
        <p:spPr>
          <a:xfrm>
            <a:off x="1807029" y="2024743"/>
            <a:ext cx="64225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5458482D-9658-03DB-6DC2-C78E22E5ADBF}"/>
              </a:ext>
            </a:extLst>
          </p:cNvPr>
          <p:cNvSpPr txBox="1"/>
          <p:nvPr/>
        </p:nvSpPr>
        <p:spPr>
          <a:xfrm>
            <a:off x="3667156" y="1614391"/>
            <a:ext cx="9797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Batch </a:t>
            </a:r>
          </a:p>
          <a:p>
            <a:pPr algn="ctr"/>
            <a:r>
              <a:rPr lang="en-US" sz="1200" dirty="0"/>
              <a:t>Flow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F749E3A0-0528-0F0D-8522-3B7629AC352E}"/>
              </a:ext>
            </a:extLst>
          </p:cNvPr>
          <p:cNvSpPr/>
          <p:nvPr/>
        </p:nvSpPr>
        <p:spPr>
          <a:xfrm>
            <a:off x="4441373" y="471492"/>
            <a:ext cx="4448628" cy="491330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033E97E-73CE-2D97-8768-65D26B55B2F8}"/>
              </a:ext>
            </a:extLst>
          </p:cNvPr>
          <p:cNvCxnSpPr>
            <a:cxnSpLocks/>
          </p:cNvCxnSpPr>
          <p:nvPr/>
        </p:nvCxnSpPr>
        <p:spPr>
          <a:xfrm>
            <a:off x="3755573" y="2165534"/>
            <a:ext cx="115388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3C6F1A36-85E6-F872-501A-C1FC343FB7A9}"/>
              </a:ext>
            </a:extLst>
          </p:cNvPr>
          <p:cNvSpPr txBox="1"/>
          <p:nvPr/>
        </p:nvSpPr>
        <p:spPr>
          <a:xfrm>
            <a:off x="5246914" y="471492"/>
            <a:ext cx="28302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Data Storage &amp; Transformation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637AC5AA-6046-DB80-3290-0553C18AAF10}"/>
              </a:ext>
            </a:extLst>
          </p:cNvPr>
          <p:cNvSpPr/>
          <p:nvPr/>
        </p:nvSpPr>
        <p:spPr>
          <a:xfrm>
            <a:off x="4909459" y="919843"/>
            <a:ext cx="3766455" cy="4301556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E4B72C5-8B65-A00B-3116-C9CC077C3315}"/>
              </a:ext>
            </a:extLst>
          </p:cNvPr>
          <p:cNvSpPr txBox="1"/>
          <p:nvPr/>
        </p:nvSpPr>
        <p:spPr>
          <a:xfrm>
            <a:off x="5393175" y="1033376"/>
            <a:ext cx="28302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Data Storage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1608ACB9-8AD0-82DA-A4B4-300823D403DD}"/>
              </a:ext>
            </a:extLst>
          </p:cNvPr>
          <p:cNvSpPr/>
          <p:nvPr/>
        </p:nvSpPr>
        <p:spPr>
          <a:xfrm>
            <a:off x="5010839" y="1636601"/>
            <a:ext cx="2206390" cy="104309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D1DBF1CA-9D02-142B-17A0-2C11FA22D9D0}"/>
              </a:ext>
            </a:extLst>
          </p:cNvPr>
          <p:cNvSpPr/>
          <p:nvPr/>
        </p:nvSpPr>
        <p:spPr>
          <a:xfrm>
            <a:off x="7445835" y="1647739"/>
            <a:ext cx="1023251" cy="932175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8" name="Picture 4" descr="Microsoft Fabric Logo">
            <a:extLst>
              <a:ext uri="{FF2B5EF4-FFF2-40B4-BE49-F238E27FC236}">
                <a16:creationId xmlns:a16="http://schemas.microsoft.com/office/drawing/2014/main" id="{62F72FAD-0319-74DC-843C-D2F8BE7E5C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6803" y="1779814"/>
            <a:ext cx="859537" cy="6796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What is OneLake in Microsoft Fabric And Its Benefits?">
            <a:extLst>
              <a:ext uri="{FF2B5EF4-FFF2-40B4-BE49-F238E27FC236}">
                <a16:creationId xmlns:a16="http://schemas.microsoft.com/office/drawing/2014/main" id="{A1EE4470-3AC0-E2D0-B5BE-06BB65337F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8689" y="1713717"/>
            <a:ext cx="218266" cy="218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CC012436-5ECC-E460-24E0-741593A24BAE}"/>
              </a:ext>
            </a:extLst>
          </p:cNvPr>
          <p:cNvSpPr txBox="1"/>
          <p:nvPr/>
        </p:nvSpPr>
        <p:spPr>
          <a:xfrm>
            <a:off x="5436079" y="1727774"/>
            <a:ext cx="11456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Fabric One Lake</a:t>
            </a:r>
          </a:p>
        </p:txBody>
      </p:sp>
      <p:pic>
        <p:nvPicPr>
          <p:cNvPr id="1032" name="Picture 8" descr="Database Icons - Free SVG &amp; PNG Database Images - Noun Project">
            <a:extLst>
              <a:ext uri="{FF2B5EF4-FFF2-40B4-BE49-F238E27FC236}">
                <a16:creationId xmlns:a16="http://schemas.microsoft.com/office/drawing/2014/main" id="{677C5830-0DAF-ABBA-65A7-43D7AFD93A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8917" y="2103761"/>
            <a:ext cx="278508" cy="2785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8" descr="Database Icons - Free SVG &amp; PNG Database Images - Noun Project">
            <a:extLst>
              <a:ext uri="{FF2B5EF4-FFF2-40B4-BE49-F238E27FC236}">
                <a16:creationId xmlns:a16="http://schemas.microsoft.com/office/drawing/2014/main" id="{46705A70-02AA-C3CE-A89D-6FA2A0B5CA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5514" y="2103761"/>
            <a:ext cx="278508" cy="2785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8" descr="Database Icons - Free SVG &amp; PNG Database Images - Noun Project">
            <a:extLst>
              <a:ext uri="{FF2B5EF4-FFF2-40B4-BE49-F238E27FC236}">
                <a16:creationId xmlns:a16="http://schemas.microsoft.com/office/drawing/2014/main" id="{063A7011-F928-CAA3-F6C0-03155D1315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1140" y="2104608"/>
            <a:ext cx="278508" cy="2785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8" descr="Database Icons - Free SVG &amp; PNG Database Images - Noun Project">
            <a:extLst>
              <a:ext uri="{FF2B5EF4-FFF2-40B4-BE49-F238E27FC236}">
                <a16:creationId xmlns:a16="http://schemas.microsoft.com/office/drawing/2014/main" id="{37C42F5D-243A-C831-9114-34029FB119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4992" y="2104608"/>
            <a:ext cx="278508" cy="2785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993E0957-B1E4-67C1-EA97-A40FEC0A2376}"/>
              </a:ext>
            </a:extLst>
          </p:cNvPr>
          <p:cNvSpPr/>
          <p:nvPr/>
        </p:nvSpPr>
        <p:spPr>
          <a:xfrm>
            <a:off x="5567177" y="2476996"/>
            <a:ext cx="268735" cy="102494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00" dirty="0">
              <a:solidFill>
                <a:schemeClr val="tx1"/>
              </a:solidFill>
            </a:endParaRP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48DB3BDD-7151-5E92-D007-E25CDF286A16}"/>
              </a:ext>
            </a:extLst>
          </p:cNvPr>
          <p:cNvSpPr/>
          <p:nvPr/>
        </p:nvSpPr>
        <p:spPr>
          <a:xfrm>
            <a:off x="5268689" y="2477420"/>
            <a:ext cx="268735" cy="102494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00" dirty="0">
              <a:solidFill>
                <a:schemeClr val="tx1"/>
              </a:solidFill>
            </a:endParaRP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1762E753-334F-424D-E519-919883E26602}"/>
              </a:ext>
            </a:extLst>
          </p:cNvPr>
          <p:cNvSpPr/>
          <p:nvPr/>
        </p:nvSpPr>
        <p:spPr>
          <a:xfrm>
            <a:off x="5871140" y="2475182"/>
            <a:ext cx="268735" cy="102494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00" dirty="0">
              <a:solidFill>
                <a:schemeClr val="tx1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98E7D44-6A20-5B9D-E5A4-35DAC10905A8}"/>
              </a:ext>
            </a:extLst>
          </p:cNvPr>
          <p:cNvSpPr txBox="1"/>
          <p:nvPr/>
        </p:nvSpPr>
        <p:spPr>
          <a:xfrm>
            <a:off x="5225266" y="2443120"/>
            <a:ext cx="335819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dirty="0"/>
              <a:t>Raw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D5B90B4-70B3-5292-EEB6-6AE6A0BA1444}"/>
              </a:ext>
            </a:extLst>
          </p:cNvPr>
          <p:cNvSpPr txBox="1"/>
          <p:nvPr/>
        </p:nvSpPr>
        <p:spPr>
          <a:xfrm>
            <a:off x="5498652" y="2448109"/>
            <a:ext cx="394580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dirty="0"/>
              <a:t>Staging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40F2DE5-9678-4C34-A693-620BA0CAE19B}"/>
              </a:ext>
            </a:extLst>
          </p:cNvPr>
          <p:cNvSpPr txBox="1"/>
          <p:nvPr/>
        </p:nvSpPr>
        <p:spPr>
          <a:xfrm>
            <a:off x="5785061" y="2443120"/>
            <a:ext cx="444948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dirty="0"/>
              <a:t>Curated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6A6DAFD6-76CF-C7F0-92CE-EF8B559EB3A8}"/>
              </a:ext>
            </a:extLst>
          </p:cNvPr>
          <p:cNvSpPr/>
          <p:nvPr/>
        </p:nvSpPr>
        <p:spPr>
          <a:xfrm>
            <a:off x="6189879" y="2469282"/>
            <a:ext cx="268735" cy="102494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00" dirty="0">
              <a:solidFill>
                <a:schemeClr val="tx1"/>
              </a:solidFill>
            </a:endParaRP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27BCE39A-19DF-FC2D-489D-2333275530B2}"/>
              </a:ext>
            </a:extLst>
          </p:cNvPr>
          <p:cNvSpPr/>
          <p:nvPr/>
        </p:nvSpPr>
        <p:spPr>
          <a:xfrm>
            <a:off x="5048467" y="2124552"/>
            <a:ext cx="156830" cy="334895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00" dirty="0">
              <a:solidFill>
                <a:schemeClr val="tx1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8DC7137-65E5-FB3F-AAD5-1284E9CF9ECA}"/>
              </a:ext>
            </a:extLst>
          </p:cNvPr>
          <p:cNvSpPr txBox="1"/>
          <p:nvPr/>
        </p:nvSpPr>
        <p:spPr>
          <a:xfrm>
            <a:off x="4923929" y="2206355"/>
            <a:ext cx="419718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dirty="0"/>
              <a:t>Landing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84C7FA6-1B88-4331-E7C6-2DA0DDB8B11C}"/>
              </a:ext>
            </a:extLst>
          </p:cNvPr>
          <p:cNvSpPr txBox="1"/>
          <p:nvPr/>
        </p:nvSpPr>
        <p:spPr>
          <a:xfrm>
            <a:off x="6088657" y="2429090"/>
            <a:ext cx="444948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dirty="0"/>
              <a:t>Datamart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1FD7EDEB-ABB9-8E46-7A48-DF4EA6E0519F}"/>
              </a:ext>
            </a:extLst>
          </p:cNvPr>
          <p:cNvSpPr/>
          <p:nvPr/>
        </p:nvSpPr>
        <p:spPr>
          <a:xfrm>
            <a:off x="6542450" y="1683437"/>
            <a:ext cx="427310" cy="150443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00" dirty="0">
              <a:solidFill>
                <a:schemeClr val="tx1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6D59132-2BE2-9152-E9E4-C45CC8923EE0}"/>
              </a:ext>
            </a:extLst>
          </p:cNvPr>
          <p:cNvSpPr txBox="1"/>
          <p:nvPr/>
        </p:nvSpPr>
        <p:spPr>
          <a:xfrm>
            <a:off x="6516901" y="1669683"/>
            <a:ext cx="419718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dirty="0"/>
              <a:t>Archival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52D8D74E-8BC6-0F82-2B2C-E57B2375A616}"/>
              </a:ext>
            </a:extLst>
          </p:cNvPr>
          <p:cNvSpPr/>
          <p:nvPr/>
        </p:nvSpPr>
        <p:spPr>
          <a:xfrm>
            <a:off x="6549068" y="1878217"/>
            <a:ext cx="427310" cy="150443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00" dirty="0">
              <a:solidFill>
                <a:schemeClr val="tx1"/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35346F9-CA8C-68E1-ADC3-CDA1DB721D9F}"/>
              </a:ext>
            </a:extLst>
          </p:cNvPr>
          <p:cNvSpPr txBox="1"/>
          <p:nvPr/>
        </p:nvSpPr>
        <p:spPr>
          <a:xfrm>
            <a:off x="6542450" y="1827301"/>
            <a:ext cx="41971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dirty="0"/>
              <a:t>Error Logging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AACAD837-7024-A77A-725E-0A0E9384B85E}"/>
              </a:ext>
            </a:extLst>
          </p:cNvPr>
          <p:cNvCxnSpPr>
            <a:cxnSpLocks/>
          </p:cNvCxnSpPr>
          <p:nvPr/>
        </p:nvCxnSpPr>
        <p:spPr>
          <a:xfrm>
            <a:off x="5238598" y="2243015"/>
            <a:ext cx="5079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E4B1EC83-A4FB-08C7-0FAD-8296F683E19F}"/>
              </a:ext>
            </a:extLst>
          </p:cNvPr>
          <p:cNvCxnSpPr>
            <a:cxnSpLocks/>
          </p:cNvCxnSpPr>
          <p:nvPr/>
        </p:nvCxnSpPr>
        <p:spPr>
          <a:xfrm>
            <a:off x="5538318" y="2248095"/>
            <a:ext cx="5079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BA19944F-147F-7A50-F669-79610BC4DDC7}"/>
              </a:ext>
            </a:extLst>
          </p:cNvPr>
          <p:cNvCxnSpPr>
            <a:cxnSpLocks/>
          </p:cNvCxnSpPr>
          <p:nvPr/>
        </p:nvCxnSpPr>
        <p:spPr>
          <a:xfrm>
            <a:off x="5845977" y="2248095"/>
            <a:ext cx="5079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40FA451E-C9EC-10C3-5E0C-A2E0254224DF}"/>
              </a:ext>
            </a:extLst>
          </p:cNvPr>
          <p:cNvCxnSpPr>
            <a:cxnSpLocks/>
          </p:cNvCxnSpPr>
          <p:nvPr/>
        </p:nvCxnSpPr>
        <p:spPr>
          <a:xfrm>
            <a:off x="6159592" y="2243015"/>
            <a:ext cx="5079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B0B300E8-810D-0AB3-DDE2-6E1FC7F61A0D}"/>
              </a:ext>
            </a:extLst>
          </p:cNvPr>
          <p:cNvSpPr/>
          <p:nvPr/>
        </p:nvSpPr>
        <p:spPr>
          <a:xfrm>
            <a:off x="5225266" y="3365122"/>
            <a:ext cx="3136896" cy="33630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A11D056-3544-5629-AC6D-8344550E8904}"/>
              </a:ext>
            </a:extLst>
          </p:cNvPr>
          <p:cNvSpPr txBox="1"/>
          <p:nvPr/>
        </p:nvSpPr>
        <p:spPr>
          <a:xfrm>
            <a:off x="6216675" y="3128050"/>
            <a:ext cx="11456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Data Processing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CBFA70E-9974-73B5-6FE1-B561CC0E4BE2}"/>
              </a:ext>
            </a:extLst>
          </p:cNvPr>
          <p:cNvSpPr txBox="1"/>
          <p:nvPr/>
        </p:nvSpPr>
        <p:spPr>
          <a:xfrm>
            <a:off x="5393175" y="3440295"/>
            <a:ext cx="27926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Data Processing utilities (EY Cloud Studio)</a:t>
            </a:r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466E3034-B59E-62E0-6AEF-AD2D89B972BE}"/>
              </a:ext>
            </a:extLst>
          </p:cNvPr>
          <p:cNvSpPr/>
          <p:nvPr/>
        </p:nvSpPr>
        <p:spPr>
          <a:xfrm>
            <a:off x="5236058" y="3777193"/>
            <a:ext cx="3136896" cy="118725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D6C85249-3866-F6F3-BA43-153F45277038}"/>
              </a:ext>
            </a:extLst>
          </p:cNvPr>
          <p:cNvSpPr/>
          <p:nvPr/>
        </p:nvSpPr>
        <p:spPr>
          <a:xfrm>
            <a:off x="5482669" y="3826104"/>
            <a:ext cx="1034231" cy="334895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ETL &amp; Orchestration</a:t>
            </a:r>
          </a:p>
        </p:txBody>
      </p:sp>
      <p:sp>
        <p:nvSpPr>
          <p:cNvPr id="1024" name="Rectangle: Rounded Corners 1023">
            <a:extLst>
              <a:ext uri="{FF2B5EF4-FFF2-40B4-BE49-F238E27FC236}">
                <a16:creationId xmlns:a16="http://schemas.microsoft.com/office/drawing/2014/main" id="{38DF1079-6FAD-9CA6-E6A2-47843871FAD8}"/>
              </a:ext>
            </a:extLst>
          </p:cNvPr>
          <p:cNvSpPr/>
          <p:nvPr/>
        </p:nvSpPr>
        <p:spPr>
          <a:xfrm>
            <a:off x="6919354" y="3853771"/>
            <a:ext cx="1034231" cy="334895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Data Quality</a:t>
            </a:r>
          </a:p>
        </p:txBody>
      </p:sp>
      <p:sp>
        <p:nvSpPr>
          <p:cNvPr id="1025" name="Rectangle: Rounded Corners 1024">
            <a:extLst>
              <a:ext uri="{FF2B5EF4-FFF2-40B4-BE49-F238E27FC236}">
                <a16:creationId xmlns:a16="http://schemas.microsoft.com/office/drawing/2014/main" id="{66C3873E-991D-8C24-32BE-C362FF510A7A}"/>
              </a:ext>
            </a:extLst>
          </p:cNvPr>
          <p:cNvSpPr/>
          <p:nvPr/>
        </p:nvSpPr>
        <p:spPr>
          <a:xfrm>
            <a:off x="5482668" y="4328108"/>
            <a:ext cx="1034231" cy="334895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Error and Restart</a:t>
            </a:r>
          </a:p>
        </p:txBody>
      </p:sp>
      <p:sp>
        <p:nvSpPr>
          <p:cNvPr id="1027" name="Rectangle: Rounded Corners 1026">
            <a:extLst>
              <a:ext uri="{FF2B5EF4-FFF2-40B4-BE49-F238E27FC236}">
                <a16:creationId xmlns:a16="http://schemas.microsoft.com/office/drawing/2014/main" id="{61DEB708-4C9D-BE55-E1FC-05F565FDD41F}"/>
              </a:ext>
            </a:extLst>
          </p:cNvPr>
          <p:cNvSpPr/>
          <p:nvPr/>
        </p:nvSpPr>
        <p:spPr>
          <a:xfrm>
            <a:off x="6927811" y="4212407"/>
            <a:ext cx="1034231" cy="334895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Data Processing</a:t>
            </a:r>
          </a:p>
        </p:txBody>
      </p:sp>
      <p:sp>
        <p:nvSpPr>
          <p:cNvPr id="1029" name="Rectangle: Rounded Corners 1028">
            <a:extLst>
              <a:ext uri="{FF2B5EF4-FFF2-40B4-BE49-F238E27FC236}">
                <a16:creationId xmlns:a16="http://schemas.microsoft.com/office/drawing/2014/main" id="{ABFEFEBB-0D28-6174-0484-CD0474BB255A}"/>
              </a:ext>
            </a:extLst>
          </p:cNvPr>
          <p:cNvSpPr/>
          <p:nvPr/>
        </p:nvSpPr>
        <p:spPr>
          <a:xfrm>
            <a:off x="6936619" y="4598333"/>
            <a:ext cx="1034231" cy="334895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Data Transformation</a:t>
            </a:r>
          </a:p>
        </p:txBody>
      </p:sp>
      <p:pic>
        <p:nvPicPr>
          <p:cNvPr id="1034" name="Picture 10" descr="All Microsoft Fabric icons for diagramming - Sam Debruyn">
            <a:extLst>
              <a:ext uri="{FF2B5EF4-FFF2-40B4-BE49-F238E27FC236}">
                <a16:creationId xmlns:a16="http://schemas.microsoft.com/office/drawing/2014/main" id="{B3264A36-2192-821A-991B-40F9B903D9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6775" y="4280753"/>
            <a:ext cx="216179" cy="2161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1" name="Picture 10" descr="All Microsoft Fabric icons for diagramming - Sam Debruyn">
            <a:extLst>
              <a:ext uri="{FF2B5EF4-FFF2-40B4-BE49-F238E27FC236}">
                <a16:creationId xmlns:a16="http://schemas.microsoft.com/office/drawing/2014/main" id="{6BB494F7-A65E-7DD9-06FF-F00C892A90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3175" y="4274172"/>
            <a:ext cx="216179" cy="2161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3" name="Picture 10" descr="All Microsoft Fabric icons for diagramming - Sam Debruyn">
            <a:extLst>
              <a:ext uri="{FF2B5EF4-FFF2-40B4-BE49-F238E27FC236}">
                <a16:creationId xmlns:a16="http://schemas.microsoft.com/office/drawing/2014/main" id="{E50F1E19-D7D7-C540-CF5F-580E128C99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2823" y="4752641"/>
            <a:ext cx="216179" cy="2161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0" descr="All Microsoft Fabric icons for diagramming - Sam Debruyn">
            <a:extLst>
              <a:ext uri="{FF2B5EF4-FFF2-40B4-BE49-F238E27FC236}">
                <a16:creationId xmlns:a16="http://schemas.microsoft.com/office/drawing/2014/main" id="{44204746-97AC-D812-53D0-A0EBA8AF1B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9721" y="3885461"/>
            <a:ext cx="216179" cy="2161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2" descr="All Microsoft Fabric icons for diagramming (old version) - Sam Debruyn">
            <a:extLst>
              <a:ext uri="{FF2B5EF4-FFF2-40B4-BE49-F238E27FC236}">
                <a16:creationId xmlns:a16="http://schemas.microsoft.com/office/drawing/2014/main" id="{E165A656-EA95-9925-749B-01AD4C666A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6547" y="4498344"/>
            <a:ext cx="172241" cy="1725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9" name="Picture 12" descr="All Microsoft Fabric icons for diagramming (old version) - Sam Debruyn">
            <a:extLst>
              <a:ext uri="{FF2B5EF4-FFF2-40B4-BE49-F238E27FC236}">
                <a16:creationId xmlns:a16="http://schemas.microsoft.com/office/drawing/2014/main" id="{A4845FF9-5235-5724-ED9C-EDB31EDD4C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2531" y="3921025"/>
            <a:ext cx="172241" cy="1725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2" descr="All Microsoft Fabric icons for diagramming (old version) - Sam Debruyn">
            <a:extLst>
              <a:ext uri="{FF2B5EF4-FFF2-40B4-BE49-F238E27FC236}">
                <a16:creationId xmlns:a16="http://schemas.microsoft.com/office/drawing/2014/main" id="{3B69C4C1-FD76-05BC-5FBA-0E2E036654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7037" y="4598333"/>
            <a:ext cx="172241" cy="1725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47" name="Straight Arrow Connector 1046">
            <a:extLst>
              <a:ext uri="{FF2B5EF4-FFF2-40B4-BE49-F238E27FC236}">
                <a16:creationId xmlns:a16="http://schemas.microsoft.com/office/drawing/2014/main" id="{565709F1-96B9-082E-6D0F-CB3A23B67603}"/>
              </a:ext>
            </a:extLst>
          </p:cNvPr>
          <p:cNvCxnSpPr/>
          <p:nvPr/>
        </p:nvCxnSpPr>
        <p:spPr>
          <a:xfrm>
            <a:off x="5715000" y="2774950"/>
            <a:ext cx="0" cy="2794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48" name="Straight Arrow Connector 1047">
            <a:extLst>
              <a:ext uri="{FF2B5EF4-FFF2-40B4-BE49-F238E27FC236}">
                <a16:creationId xmlns:a16="http://schemas.microsoft.com/office/drawing/2014/main" id="{9CF9D8AC-88D1-5E63-0DDD-8D2C44F09E48}"/>
              </a:ext>
            </a:extLst>
          </p:cNvPr>
          <p:cNvCxnSpPr/>
          <p:nvPr/>
        </p:nvCxnSpPr>
        <p:spPr>
          <a:xfrm>
            <a:off x="6750050" y="2741111"/>
            <a:ext cx="0" cy="2794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49" name="Straight Arrow Connector 1048">
            <a:extLst>
              <a:ext uri="{FF2B5EF4-FFF2-40B4-BE49-F238E27FC236}">
                <a16:creationId xmlns:a16="http://schemas.microsoft.com/office/drawing/2014/main" id="{3F98A31B-54CC-A3F9-DCD3-861EC1E31B19}"/>
              </a:ext>
            </a:extLst>
          </p:cNvPr>
          <p:cNvCxnSpPr/>
          <p:nvPr/>
        </p:nvCxnSpPr>
        <p:spPr>
          <a:xfrm>
            <a:off x="7880350" y="2741111"/>
            <a:ext cx="0" cy="2794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50" name="TextBox 1049">
            <a:extLst>
              <a:ext uri="{FF2B5EF4-FFF2-40B4-BE49-F238E27FC236}">
                <a16:creationId xmlns:a16="http://schemas.microsoft.com/office/drawing/2014/main" id="{49F27BF0-22CD-A9FF-561F-B94F0EAAFAFD}"/>
              </a:ext>
            </a:extLst>
          </p:cNvPr>
          <p:cNvSpPr txBox="1"/>
          <p:nvPr/>
        </p:nvSpPr>
        <p:spPr>
          <a:xfrm>
            <a:off x="5704768" y="2654070"/>
            <a:ext cx="461665" cy="526233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US" sz="1000" dirty="0"/>
              <a:t>Events</a:t>
            </a:r>
          </a:p>
        </p:txBody>
      </p:sp>
      <p:sp>
        <p:nvSpPr>
          <p:cNvPr id="1051" name="TextBox 1050">
            <a:extLst>
              <a:ext uri="{FF2B5EF4-FFF2-40B4-BE49-F238E27FC236}">
                <a16:creationId xmlns:a16="http://schemas.microsoft.com/office/drawing/2014/main" id="{4139914A-942A-CCBC-B580-79D758DDA9D5}"/>
              </a:ext>
            </a:extLst>
          </p:cNvPr>
          <p:cNvSpPr txBox="1"/>
          <p:nvPr/>
        </p:nvSpPr>
        <p:spPr>
          <a:xfrm>
            <a:off x="6786342" y="2630983"/>
            <a:ext cx="430887" cy="526233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US" sz="800" dirty="0"/>
              <a:t>Cleansed Data</a:t>
            </a:r>
          </a:p>
        </p:txBody>
      </p:sp>
      <p:sp>
        <p:nvSpPr>
          <p:cNvPr id="1052" name="TextBox 1051">
            <a:extLst>
              <a:ext uri="{FF2B5EF4-FFF2-40B4-BE49-F238E27FC236}">
                <a16:creationId xmlns:a16="http://schemas.microsoft.com/office/drawing/2014/main" id="{ABDFCDF0-21CC-147B-B870-E0E6885BB2F6}"/>
              </a:ext>
            </a:extLst>
          </p:cNvPr>
          <p:cNvSpPr txBox="1"/>
          <p:nvPr/>
        </p:nvSpPr>
        <p:spPr>
          <a:xfrm>
            <a:off x="7901805" y="2601817"/>
            <a:ext cx="430887" cy="526233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US" sz="800" dirty="0"/>
              <a:t>Curated Data</a:t>
            </a:r>
          </a:p>
        </p:txBody>
      </p:sp>
      <p:cxnSp>
        <p:nvCxnSpPr>
          <p:cNvPr id="1077" name="Straight Arrow Connector 1076">
            <a:extLst>
              <a:ext uri="{FF2B5EF4-FFF2-40B4-BE49-F238E27FC236}">
                <a16:creationId xmlns:a16="http://schemas.microsoft.com/office/drawing/2014/main" id="{152AEFCB-2799-EAA3-C20C-3868869D0468}"/>
              </a:ext>
            </a:extLst>
          </p:cNvPr>
          <p:cNvCxnSpPr>
            <a:cxnSpLocks/>
          </p:cNvCxnSpPr>
          <p:nvPr/>
        </p:nvCxnSpPr>
        <p:spPr>
          <a:xfrm flipH="1">
            <a:off x="8819974" y="1980293"/>
            <a:ext cx="12691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81" name="Connector: Elbow 1080">
            <a:extLst>
              <a:ext uri="{FF2B5EF4-FFF2-40B4-BE49-F238E27FC236}">
                <a16:creationId xmlns:a16="http://schemas.microsoft.com/office/drawing/2014/main" id="{BF74D80A-36F9-57A4-7B0D-71E3D66942D0}"/>
              </a:ext>
            </a:extLst>
          </p:cNvPr>
          <p:cNvCxnSpPr>
            <a:cxnSpLocks/>
          </p:cNvCxnSpPr>
          <p:nvPr/>
        </p:nvCxnSpPr>
        <p:spPr>
          <a:xfrm rot="16200000" flipH="1">
            <a:off x="7754304" y="3176266"/>
            <a:ext cx="2886732" cy="482194"/>
          </a:xfrm>
          <a:prstGeom prst="bentConnector3">
            <a:avLst>
              <a:gd name="adj1" fmla="val 100028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87" name="Rectangle: Rounded Corners 1086">
            <a:extLst>
              <a:ext uri="{FF2B5EF4-FFF2-40B4-BE49-F238E27FC236}">
                <a16:creationId xmlns:a16="http://schemas.microsoft.com/office/drawing/2014/main" id="{42B9E9EE-B3DE-1576-48E2-99C08F00783B}"/>
              </a:ext>
            </a:extLst>
          </p:cNvPr>
          <p:cNvSpPr/>
          <p:nvPr/>
        </p:nvSpPr>
        <p:spPr>
          <a:xfrm>
            <a:off x="9442537" y="4013200"/>
            <a:ext cx="1156741" cy="137159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8" name="TextBox 1087">
            <a:extLst>
              <a:ext uri="{FF2B5EF4-FFF2-40B4-BE49-F238E27FC236}">
                <a16:creationId xmlns:a16="http://schemas.microsoft.com/office/drawing/2014/main" id="{62240DDA-7F8D-93C8-3D7D-6EE1D6DBF309}"/>
              </a:ext>
            </a:extLst>
          </p:cNvPr>
          <p:cNvSpPr txBox="1"/>
          <p:nvPr/>
        </p:nvSpPr>
        <p:spPr>
          <a:xfrm>
            <a:off x="9418465" y="3999886"/>
            <a:ext cx="114567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Data </a:t>
            </a:r>
            <a:r>
              <a:rPr lang="en-US" sz="1000" dirty="0" err="1"/>
              <a:t>Visualisation</a:t>
            </a:r>
            <a:r>
              <a:rPr lang="en-US" sz="1000" dirty="0"/>
              <a:t> Layer</a:t>
            </a:r>
          </a:p>
        </p:txBody>
      </p:sp>
      <p:pic>
        <p:nvPicPr>
          <p:cNvPr id="1089" name="Picture 14" descr="Power BI Logo and symbol, meaning, history, PNG, brand">
            <a:extLst>
              <a:ext uri="{FF2B5EF4-FFF2-40B4-BE49-F238E27FC236}">
                <a16:creationId xmlns:a16="http://schemas.microsoft.com/office/drawing/2014/main" id="{5DAFB541-C016-54E8-98F7-3762574A01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4831" y="4586253"/>
            <a:ext cx="1023251" cy="5755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90" name="TextBox 1089">
            <a:extLst>
              <a:ext uri="{FF2B5EF4-FFF2-40B4-BE49-F238E27FC236}">
                <a16:creationId xmlns:a16="http://schemas.microsoft.com/office/drawing/2014/main" id="{AB48393D-C903-9A33-9D09-3274CC42C679}"/>
              </a:ext>
            </a:extLst>
          </p:cNvPr>
          <p:cNvSpPr txBox="1"/>
          <p:nvPr/>
        </p:nvSpPr>
        <p:spPr>
          <a:xfrm>
            <a:off x="9634943" y="4808030"/>
            <a:ext cx="11456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Power BI</a:t>
            </a:r>
          </a:p>
        </p:txBody>
      </p:sp>
      <p:cxnSp>
        <p:nvCxnSpPr>
          <p:cNvPr id="1091" name="Straight Arrow Connector 1090">
            <a:extLst>
              <a:ext uri="{FF2B5EF4-FFF2-40B4-BE49-F238E27FC236}">
                <a16:creationId xmlns:a16="http://schemas.microsoft.com/office/drawing/2014/main" id="{642AB9BD-EE7F-2BFE-CCE2-2F8F566FC560}"/>
              </a:ext>
            </a:extLst>
          </p:cNvPr>
          <p:cNvCxnSpPr>
            <a:cxnSpLocks/>
          </p:cNvCxnSpPr>
          <p:nvPr/>
        </p:nvCxnSpPr>
        <p:spPr>
          <a:xfrm flipH="1" flipV="1">
            <a:off x="10564140" y="4944363"/>
            <a:ext cx="587674" cy="2008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94" name="Rectangle: Rounded Corners 1093">
            <a:extLst>
              <a:ext uri="{FF2B5EF4-FFF2-40B4-BE49-F238E27FC236}">
                <a16:creationId xmlns:a16="http://schemas.microsoft.com/office/drawing/2014/main" id="{715222EA-3892-1851-8232-5B52B1BC6209}"/>
              </a:ext>
            </a:extLst>
          </p:cNvPr>
          <p:cNvSpPr/>
          <p:nvPr/>
        </p:nvSpPr>
        <p:spPr>
          <a:xfrm>
            <a:off x="11242510" y="4163265"/>
            <a:ext cx="587674" cy="12238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5" name="TextBox 1094">
            <a:extLst>
              <a:ext uri="{FF2B5EF4-FFF2-40B4-BE49-F238E27FC236}">
                <a16:creationId xmlns:a16="http://schemas.microsoft.com/office/drawing/2014/main" id="{5DD8EAE1-B7C2-DCB1-3F80-D629D0279086}"/>
              </a:ext>
            </a:extLst>
          </p:cNvPr>
          <p:cNvSpPr txBox="1"/>
          <p:nvPr/>
        </p:nvSpPr>
        <p:spPr>
          <a:xfrm>
            <a:off x="10916806" y="4299435"/>
            <a:ext cx="11456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Users</a:t>
            </a:r>
          </a:p>
        </p:txBody>
      </p:sp>
      <p:pic>
        <p:nvPicPr>
          <p:cNvPr id="1096" name="Picture 16" descr="User - Free people icons">
            <a:extLst>
              <a:ext uri="{FF2B5EF4-FFF2-40B4-BE49-F238E27FC236}">
                <a16:creationId xmlns:a16="http://schemas.microsoft.com/office/drawing/2014/main" id="{A53134EB-14A1-D721-CD30-E8A600B570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42510" y="4663003"/>
            <a:ext cx="528125" cy="528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97" name="Rectangle: Rounded Corners 1096">
            <a:extLst>
              <a:ext uri="{FF2B5EF4-FFF2-40B4-BE49-F238E27FC236}">
                <a16:creationId xmlns:a16="http://schemas.microsoft.com/office/drawing/2014/main" id="{48D5B7CD-490A-884E-B131-5A32B3114A7B}"/>
              </a:ext>
            </a:extLst>
          </p:cNvPr>
          <p:cNvSpPr/>
          <p:nvPr/>
        </p:nvSpPr>
        <p:spPr>
          <a:xfrm>
            <a:off x="2601686" y="5563912"/>
            <a:ext cx="7743772" cy="65183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5B83BE72-DBEC-4DD5-B792-53864B9EE1DD}"/>
              </a:ext>
            </a:extLst>
          </p:cNvPr>
          <p:cNvSpPr/>
          <p:nvPr/>
        </p:nvSpPr>
        <p:spPr>
          <a:xfrm>
            <a:off x="2746606" y="5586188"/>
            <a:ext cx="2026667" cy="58782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WOG Azure Active Directory</a:t>
            </a:r>
          </a:p>
        </p:txBody>
      </p:sp>
      <p:sp>
        <p:nvSpPr>
          <p:cNvPr id="1098" name="Rectangle: Rounded Corners 1097">
            <a:extLst>
              <a:ext uri="{FF2B5EF4-FFF2-40B4-BE49-F238E27FC236}">
                <a16:creationId xmlns:a16="http://schemas.microsoft.com/office/drawing/2014/main" id="{FD8BC421-4D7B-D059-5104-8112C585910C}"/>
              </a:ext>
            </a:extLst>
          </p:cNvPr>
          <p:cNvSpPr/>
          <p:nvPr/>
        </p:nvSpPr>
        <p:spPr>
          <a:xfrm>
            <a:off x="4985649" y="5595914"/>
            <a:ext cx="2026667" cy="58782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Azure Key Vault</a:t>
            </a:r>
          </a:p>
        </p:txBody>
      </p:sp>
      <p:sp>
        <p:nvSpPr>
          <p:cNvPr id="1099" name="TextBox 1098">
            <a:extLst>
              <a:ext uri="{FF2B5EF4-FFF2-40B4-BE49-F238E27FC236}">
                <a16:creationId xmlns:a16="http://schemas.microsoft.com/office/drawing/2014/main" id="{9F538A64-0226-42D6-3F33-BE6B02689C9D}"/>
              </a:ext>
            </a:extLst>
          </p:cNvPr>
          <p:cNvSpPr txBox="1"/>
          <p:nvPr/>
        </p:nvSpPr>
        <p:spPr>
          <a:xfrm>
            <a:off x="5650086" y="5329667"/>
            <a:ext cx="16824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Foundational Layer</a:t>
            </a:r>
          </a:p>
        </p:txBody>
      </p:sp>
      <p:sp>
        <p:nvSpPr>
          <p:cNvPr id="1101" name="Rectangle: Rounded Corners 1100">
            <a:extLst>
              <a:ext uri="{FF2B5EF4-FFF2-40B4-BE49-F238E27FC236}">
                <a16:creationId xmlns:a16="http://schemas.microsoft.com/office/drawing/2014/main" id="{D685F31C-E218-DAEC-ED57-CE2D68D15DCB}"/>
              </a:ext>
            </a:extLst>
          </p:cNvPr>
          <p:cNvSpPr/>
          <p:nvPr/>
        </p:nvSpPr>
        <p:spPr>
          <a:xfrm>
            <a:off x="3408042" y="87070"/>
            <a:ext cx="6030725" cy="337488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2" name="Rectangle: Rounded Corners 1101">
            <a:extLst>
              <a:ext uri="{FF2B5EF4-FFF2-40B4-BE49-F238E27FC236}">
                <a16:creationId xmlns:a16="http://schemas.microsoft.com/office/drawing/2014/main" id="{25AFCE5E-1D12-B854-802A-6A375B285597}"/>
              </a:ext>
            </a:extLst>
          </p:cNvPr>
          <p:cNvSpPr/>
          <p:nvPr/>
        </p:nvSpPr>
        <p:spPr>
          <a:xfrm>
            <a:off x="3582688" y="45010"/>
            <a:ext cx="1341242" cy="37193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Log Analytics</a:t>
            </a:r>
          </a:p>
        </p:txBody>
      </p:sp>
      <p:sp>
        <p:nvSpPr>
          <p:cNvPr id="1103" name="Rectangle: Rounded Corners 1102">
            <a:extLst>
              <a:ext uri="{FF2B5EF4-FFF2-40B4-BE49-F238E27FC236}">
                <a16:creationId xmlns:a16="http://schemas.microsoft.com/office/drawing/2014/main" id="{AF430C88-DF0A-E58D-5352-ADE550EAABBF}"/>
              </a:ext>
            </a:extLst>
          </p:cNvPr>
          <p:cNvSpPr/>
          <p:nvPr/>
        </p:nvSpPr>
        <p:spPr>
          <a:xfrm>
            <a:off x="5205297" y="76200"/>
            <a:ext cx="1341242" cy="37193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Azure Monitoring</a:t>
            </a:r>
          </a:p>
        </p:txBody>
      </p:sp>
      <p:sp>
        <p:nvSpPr>
          <p:cNvPr id="1104" name="TextBox 1103">
            <a:extLst>
              <a:ext uri="{FF2B5EF4-FFF2-40B4-BE49-F238E27FC236}">
                <a16:creationId xmlns:a16="http://schemas.microsoft.com/office/drawing/2014/main" id="{D12F7817-6E81-360C-5E0E-15A4BA990CF8}"/>
              </a:ext>
            </a:extLst>
          </p:cNvPr>
          <p:cNvSpPr txBox="1"/>
          <p:nvPr/>
        </p:nvSpPr>
        <p:spPr>
          <a:xfrm>
            <a:off x="2768603" y="372985"/>
            <a:ext cx="28302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Data Management</a:t>
            </a:r>
          </a:p>
        </p:txBody>
      </p:sp>
      <p:sp>
        <p:nvSpPr>
          <p:cNvPr id="1105" name="Rectangle: Rounded Corners 1104">
            <a:extLst>
              <a:ext uri="{FF2B5EF4-FFF2-40B4-BE49-F238E27FC236}">
                <a16:creationId xmlns:a16="http://schemas.microsoft.com/office/drawing/2014/main" id="{826CE583-4750-4DB9-C8BC-E6E491B6FAC8}"/>
              </a:ext>
            </a:extLst>
          </p:cNvPr>
          <p:cNvSpPr/>
          <p:nvPr/>
        </p:nvSpPr>
        <p:spPr>
          <a:xfrm>
            <a:off x="6852068" y="53741"/>
            <a:ext cx="1341242" cy="37193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Logic Apps</a:t>
            </a:r>
          </a:p>
        </p:txBody>
      </p:sp>
    </p:spTree>
    <p:extLst>
      <p:ext uri="{BB962C8B-B14F-4D97-AF65-F5344CB8AC3E}">
        <p14:creationId xmlns:p14="http://schemas.microsoft.com/office/powerpoint/2010/main" val="3276690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81</Words>
  <Application>Microsoft Office PowerPoint</Application>
  <PresentationFormat>Widescreen</PresentationFormat>
  <Paragraphs>38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Vanessa Kwok</dc:creator>
  <cp:lastModifiedBy>Vanessa Kwok</cp:lastModifiedBy>
  <cp:revision>1</cp:revision>
  <dcterms:created xsi:type="dcterms:W3CDTF">2026-02-07T12:53:13Z</dcterms:created>
  <dcterms:modified xsi:type="dcterms:W3CDTF">2026-02-07T13:51:53Z</dcterms:modified>
</cp:coreProperties>
</file>